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9" r:id="rId4"/>
    <p:sldId id="260" r:id="rId5"/>
    <p:sldId id="266" r:id="rId6"/>
    <p:sldId id="262" r:id="rId7"/>
    <p:sldId id="268" r:id="rId8"/>
    <p:sldId id="269" r:id="rId9"/>
    <p:sldId id="261" r:id="rId10"/>
    <p:sldId id="258" r:id="rId11"/>
    <p:sldId id="263" r:id="rId12"/>
    <p:sldId id="264" r:id="rId13"/>
    <p:sldId id="26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61B8A1-AB81-4CDE-BDCE-45B79858598E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83928A8-7439-41E5-AD58-D191D7730319}">
      <dgm:prSet/>
      <dgm:spPr/>
      <dgm:t>
        <a:bodyPr/>
        <a:lstStyle/>
        <a:p>
          <a:r>
            <a:rPr lang="en-US"/>
            <a:t>Average</a:t>
          </a:r>
        </a:p>
      </dgm:t>
    </dgm:pt>
    <dgm:pt modelId="{8C98FE0E-4039-428A-897C-98EE610C5F8B}" type="parTrans" cxnId="{3550AE4C-B6E5-4FB2-B89C-F06AE4DF4A58}">
      <dgm:prSet/>
      <dgm:spPr/>
      <dgm:t>
        <a:bodyPr/>
        <a:lstStyle/>
        <a:p>
          <a:endParaRPr lang="en-US"/>
        </a:p>
      </dgm:t>
    </dgm:pt>
    <dgm:pt modelId="{9E3BD388-760C-414B-ABD3-871E642F69AC}" type="sibTrans" cxnId="{3550AE4C-B6E5-4FB2-B89C-F06AE4DF4A58}">
      <dgm:prSet/>
      <dgm:spPr/>
      <dgm:t>
        <a:bodyPr/>
        <a:lstStyle/>
        <a:p>
          <a:endParaRPr lang="en-US"/>
        </a:p>
      </dgm:t>
    </dgm:pt>
    <dgm:pt modelId="{F2771490-FB0B-444E-A95F-9F1A7B537B5D}">
      <dgm:prSet/>
      <dgm:spPr/>
      <dgm:t>
        <a:bodyPr/>
        <a:lstStyle/>
        <a:p>
          <a:r>
            <a:rPr lang="en-US"/>
            <a:t>Average Rating by Year</a:t>
          </a:r>
        </a:p>
      </dgm:t>
    </dgm:pt>
    <dgm:pt modelId="{FBE43F61-CDAE-44CD-825A-3861F93AA36A}" type="parTrans" cxnId="{B141E772-208B-4BB9-8721-4AB4EADCA6BC}">
      <dgm:prSet/>
      <dgm:spPr/>
      <dgm:t>
        <a:bodyPr/>
        <a:lstStyle/>
        <a:p>
          <a:endParaRPr lang="en-US"/>
        </a:p>
      </dgm:t>
    </dgm:pt>
    <dgm:pt modelId="{BA24D171-677C-4119-9BD6-5CD400CFCA48}" type="sibTrans" cxnId="{B141E772-208B-4BB9-8721-4AB4EADCA6BC}">
      <dgm:prSet/>
      <dgm:spPr/>
      <dgm:t>
        <a:bodyPr/>
        <a:lstStyle/>
        <a:p>
          <a:endParaRPr lang="en-US"/>
        </a:p>
      </dgm:t>
    </dgm:pt>
    <dgm:pt modelId="{C949B1D1-7731-48ED-B4F6-35D0BF1E69FE}">
      <dgm:prSet/>
      <dgm:spPr/>
      <dgm:t>
        <a:bodyPr/>
        <a:lstStyle/>
        <a:p>
          <a:r>
            <a:rPr lang="en-US"/>
            <a:t>Average</a:t>
          </a:r>
        </a:p>
      </dgm:t>
    </dgm:pt>
    <dgm:pt modelId="{9F61C0A0-A14A-4E9D-B927-2B6ADB9894D9}" type="parTrans" cxnId="{693070CC-2B03-4989-A2C9-8024F85214D7}">
      <dgm:prSet/>
      <dgm:spPr/>
      <dgm:t>
        <a:bodyPr/>
        <a:lstStyle/>
        <a:p>
          <a:endParaRPr lang="en-US"/>
        </a:p>
      </dgm:t>
    </dgm:pt>
    <dgm:pt modelId="{71FB61A3-E0A4-4FB4-B0FE-41923DDB888B}" type="sibTrans" cxnId="{693070CC-2B03-4989-A2C9-8024F85214D7}">
      <dgm:prSet/>
      <dgm:spPr/>
      <dgm:t>
        <a:bodyPr/>
        <a:lstStyle/>
        <a:p>
          <a:endParaRPr lang="en-US"/>
        </a:p>
      </dgm:t>
    </dgm:pt>
    <dgm:pt modelId="{A242E5ED-A75A-4EA6-B2C5-5D92111EAFE8}">
      <dgm:prSet/>
      <dgm:spPr/>
      <dgm:t>
        <a:bodyPr/>
        <a:lstStyle/>
        <a:p>
          <a:r>
            <a:rPr lang="en-US"/>
            <a:t>Average rating By Category</a:t>
          </a:r>
        </a:p>
      </dgm:t>
    </dgm:pt>
    <dgm:pt modelId="{AC637642-2EF3-4AA6-860D-5C946683564C}" type="parTrans" cxnId="{3BACE01D-ED7F-4E7B-96CA-8036641B9AEE}">
      <dgm:prSet/>
      <dgm:spPr/>
      <dgm:t>
        <a:bodyPr/>
        <a:lstStyle/>
        <a:p>
          <a:endParaRPr lang="en-US"/>
        </a:p>
      </dgm:t>
    </dgm:pt>
    <dgm:pt modelId="{F571E13B-DCED-4E82-92C8-DC71B769EFA1}" type="sibTrans" cxnId="{3BACE01D-ED7F-4E7B-96CA-8036641B9AEE}">
      <dgm:prSet/>
      <dgm:spPr/>
      <dgm:t>
        <a:bodyPr/>
        <a:lstStyle/>
        <a:p>
          <a:endParaRPr lang="en-US"/>
        </a:p>
      </dgm:t>
    </dgm:pt>
    <dgm:pt modelId="{29DB998C-4285-4AA7-AF43-569A838756E5}">
      <dgm:prSet/>
      <dgm:spPr/>
      <dgm:t>
        <a:bodyPr/>
        <a:lstStyle/>
        <a:p>
          <a:r>
            <a:rPr lang="en-US"/>
            <a:t>Total</a:t>
          </a:r>
        </a:p>
      </dgm:t>
    </dgm:pt>
    <dgm:pt modelId="{1D68B59F-4281-4B7C-9252-02694B901F62}" type="parTrans" cxnId="{E4879FAD-FDB4-41E8-BDF9-F54E5684D6CB}">
      <dgm:prSet/>
      <dgm:spPr/>
      <dgm:t>
        <a:bodyPr/>
        <a:lstStyle/>
        <a:p>
          <a:endParaRPr lang="en-US"/>
        </a:p>
      </dgm:t>
    </dgm:pt>
    <dgm:pt modelId="{BE30A2CC-AD1A-402A-A9C7-C489C16C2094}" type="sibTrans" cxnId="{E4879FAD-FDB4-41E8-BDF9-F54E5684D6CB}">
      <dgm:prSet/>
      <dgm:spPr/>
      <dgm:t>
        <a:bodyPr/>
        <a:lstStyle/>
        <a:p>
          <a:endParaRPr lang="en-US"/>
        </a:p>
      </dgm:t>
    </dgm:pt>
    <dgm:pt modelId="{278C67B5-0969-4B10-A7DE-90F604E33BE1}">
      <dgm:prSet/>
      <dgm:spPr/>
      <dgm:t>
        <a:bodyPr/>
        <a:lstStyle/>
        <a:p>
          <a:r>
            <a:rPr lang="en-US"/>
            <a:t>Total Rating By Customer</a:t>
          </a:r>
        </a:p>
      </dgm:t>
    </dgm:pt>
    <dgm:pt modelId="{758C85B0-5E8E-4471-9062-E4B264737BF1}" type="parTrans" cxnId="{84A27C5A-574F-4A77-975D-6B4BE821DA0A}">
      <dgm:prSet/>
      <dgm:spPr/>
      <dgm:t>
        <a:bodyPr/>
        <a:lstStyle/>
        <a:p>
          <a:endParaRPr lang="en-US"/>
        </a:p>
      </dgm:t>
    </dgm:pt>
    <dgm:pt modelId="{64D89BAA-DEE0-4D5F-892F-8D07069E16B8}" type="sibTrans" cxnId="{84A27C5A-574F-4A77-975D-6B4BE821DA0A}">
      <dgm:prSet/>
      <dgm:spPr/>
      <dgm:t>
        <a:bodyPr/>
        <a:lstStyle/>
        <a:p>
          <a:endParaRPr lang="en-US"/>
        </a:p>
      </dgm:t>
    </dgm:pt>
    <dgm:pt modelId="{3F40D31A-EC4A-43D9-AC5A-79EBCA875567}">
      <dgm:prSet/>
      <dgm:spPr/>
      <dgm:t>
        <a:bodyPr/>
        <a:lstStyle/>
        <a:p>
          <a:r>
            <a:rPr lang="en-US"/>
            <a:t>Total</a:t>
          </a:r>
        </a:p>
      </dgm:t>
    </dgm:pt>
    <dgm:pt modelId="{FF163EAF-A6F3-422A-85B8-8D003987B16C}" type="parTrans" cxnId="{B5B30BE9-9009-402C-B227-5D4B70485644}">
      <dgm:prSet/>
      <dgm:spPr/>
      <dgm:t>
        <a:bodyPr/>
        <a:lstStyle/>
        <a:p>
          <a:endParaRPr lang="en-US"/>
        </a:p>
      </dgm:t>
    </dgm:pt>
    <dgm:pt modelId="{758838EF-652A-438E-8DFA-55B4E0DF8064}" type="sibTrans" cxnId="{B5B30BE9-9009-402C-B227-5D4B70485644}">
      <dgm:prSet/>
      <dgm:spPr/>
      <dgm:t>
        <a:bodyPr/>
        <a:lstStyle/>
        <a:p>
          <a:endParaRPr lang="en-US"/>
        </a:p>
      </dgm:t>
    </dgm:pt>
    <dgm:pt modelId="{761F2D06-EDF5-418E-A9CD-4DC99B5F7DB9}">
      <dgm:prSet/>
      <dgm:spPr/>
      <dgm:t>
        <a:bodyPr/>
        <a:lstStyle/>
        <a:p>
          <a:r>
            <a:rPr lang="en-US"/>
            <a:t>Total Ratings by item_type</a:t>
          </a:r>
        </a:p>
      </dgm:t>
    </dgm:pt>
    <dgm:pt modelId="{A2925291-1BFB-41F6-99B7-1CA1F2A6637F}" type="parTrans" cxnId="{5771273D-133D-435D-9A2C-F47291EB0379}">
      <dgm:prSet/>
      <dgm:spPr/>
      <dgm:t>
        <a:bodyPr/>
        <a:lstStyle/>
        <a:p>
          <a:endParaRPr lang="en-US"/>
        </a:p>
      </dgm:t>
    </dgm:pt>
    <dgm:pt modelId="{1FAB7F64-1391-4B85-951E-E1F5FE63C5A0}" type="sibTrans" cxnId="{5771273D-133D-435D-9A2C-F47291EB0379}">
      <dgm:prSet/>
      <dgm:spPr/>
      <dgm:t>
        <a:bodyPr/>
        <a:lstStyle/>
        <a:p>
          <a:endParaRPr lang="en-US"/>
        </a:p>
      </dgm:t>
    </dgm:pt>
    <dgm:pt modelId="{3F217CB1-BBC0-2F41-99E0-4BCF0471CD44}" type="pres">
      <dgm:prSet presAssocID="{6761B8A1-AB81-4CDE-BDCE-45B79858598E}" presName="Name0" presStyleCnt="0">
        <dgm:presLayoutVars>
          <dgm:dir/>
          <dgm:animLvl val="lvl"/>
          <dgm:resizeHandles val="exact"/>
        </dgm:presLayoutVars>
      </dgm:prSet>
      <dgm:spPr/>
    </dgm:pt>
    <dgm:pt modelId="{5204055A-1B03-8444-9AA1-E693DB83466F}" type="pres">
      <dgm:prSet presAssocID="{383928A8-7439-41E5-AD58-D191D7730319}" presName="linNode" presStyleCnt="0"/>
      <dgm:spPr/>
    </dgm:pt>
    <dgm:pt modelId="{FA7AFD5B-4CC6-0945-B113-F9D3CD562463}" type="pres">
      <dgm:prSet presAssocID="{383928A8-7439-41E5-AD58-D191D7730319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98994320-B393-534C-807D-44099B8A805A}" type="pres">
      <dgm:prSet presAssocID="{383928A8-7439-41E5-AD58-D191D7730319}" presName="descendantText" presStyleLbl="alignAccFollowNode1" presStyleIdx="0" presStyleCnt="4">
        <dgm:presLayoutVars>
          <dgm:bulletEnabled/>
        </dgm:presLayoutVars>
      </dgm:prSet>
      <dgm:spPr/>
    </dgm:pt>
    <dgm:pt modelId="{E73C52B5-17FB-7A44-B5B9-999FDBF7F06E}" type="pres">
      <dgm:prSet presAssocID="{9E3BD388-760C-414B-ABD3-871E642F69AC}" presName="sp" presStyleCnt="0"/>
      <dgm:spPr/>
    </dgm:pt>
    <dgm:pt modelId="{31EB93A7-D065-3243-8CF1-FA52909D5647}" type="pres">
      <dgm:prSet presAssocID="{C949B1D1-7731-48ED-B4F6-35D0BF1E69FE}" presName="linNode" presStyleCnt="0"/>
      <dgm:spPr/>
    </dgm:pt>
    <dgm:pt modelId="{B989F060-BA21-3946-8E1A-4596D7BFF144}" type="pres">
      <dgm:prSet presAssocID="{C949B1D1-7731-48ED-B4F6-35D0BF1E69FE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D83D0D23-9FCF-BA4A-A832-FDC6E5F0B3A2}" type="pres">
      <dgm:prSet presAssocID="{C949B1D1-7731-48ED-B4F6-35D0BF1E69FE}" presName="descendantText" presStyleLbl="alignAccFollowNode1" presStyleIdx="1" presStyleCnt="4">
        <dgm:presLayoutVars>
          <dgm:bulletEnabled/>
        </dgm:presLayoutVars>
      </dgm:prSet>
      <dgm:spPr/>
    </dgm:pt>
    <dgm:pt modelId="{04FEF636-C1B8-EA4F-88A5-5E681A537C0D}" type="pres">
      <dgm:prSet presAssocID="{71FB61A3-E0A4-4FB4-B0FE-41923DDB888B}" presName="sp" presStyleCnt="0"/>
      <dgm:spPr/>
    </dgm:pt>
    <dgm:pt modelId="{A7CED5BA-1E28-5D4D-9FB1-10A502F663A1}" type="pres">
      <dgm:prSet presAssocID="{29DB998C-4285-4AA7-AF43-569A838756E5}" presName="linNode" presStyleCnt="0"/>
      <dgm:spPr/>
    </dgm:pt>
    <dgm:pt modelId="{CFE53ACE-989B-D14F-B0AB-AF60EBAF6F12}" type="pres">
      <dgm:prSet presAssocID="{29DB998C-4285-4AA7-AF43-569A838756E5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857CA3B2-DD52-9B41-918F-F6904271069E}" type="pres">
      <dgm:prSet presAssocID="{29DB998C-4285-4AA7-AF43-569A838756E5}" presName="descendantText" presStyleLbl="alignAccFollowNode1" presStyleIdx="2" presStyleCnt="4">
        <dgm:presLayoutVars>
          <dgm:bulletEnabled/>
        </dgm:presLayoutVars>
      </dgm:prSet>
      <dgm:spPr/>
    </dgm:pt>
    <dgm:pt modelId="{52F4D399-ABD5-4F42-851D-E92A3213F60A}" type="pres">
      <dgm:prSet presAssocID="{BE30A2CC-AD1A-402A-A9C7-C489C16C2094}" presName="sp" presStyleCnt="0"/>
      <dgm:spPr/>
    </dgm:pt>
    <dgm:pt modelId="{5FDE8DD0-D301-BC47-93AB-1C334D8084AF}" type="pres">
      <dgm:prSet presAssocID="{3F40D31A-EC4A-43D9-AC5A-79EBCA875567}" presName="linNode" presStyleCnt="0"/>
      <dgm:spPr/>
    </dgm:pt>
    <dgm:pt modelId="{76B00FBC-4963-424A-8C7F-7AC5D72493F8}" type="pres">
      <dgm:prSet presAssocID="{3F40D31A-EC4A-43D9-AC5A-79EBCA875567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3D2FB5B0-2B34-884E-A5AE-5F7101F3AC34}" type="pres">
      <dgm:prSet presAssocID="{3F40D31A-EC4A-43D9-AC5A-79EBCA875567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3BACE01D-ED7F-4E7B-96CA-8036641B9AEE}" srcId="{C949B1D1-7731-48ED-B4F6-35D0BF1E69FE}" destId="{A242E5ED-A75A-4EA6-B2C5-5D92111EAFE8}" srcOrd="0" destOrd="0" parTransId="{AC637642-2EF3-4AA6-860D-5C946683564C}" sibTransId="{F571E13B-DCED-4E82-92C8-DC71B769EFA1}"/>
    <dgm:cxn modelId="{ED524B22-2798-CB4C-AF3F-8E35B6DFBFAC}" type="presOf" srcId="{29DB998C-4285-4AA7-AF43-569A838756E5}" destId="{CFE53ACE-989B-D14F-B0AB-AF60EBAF6F12}" srcOrd="0" destOrd="0" presId="urn:microsoft.com/office/officeart/2016/7/layout/VerticalSolidActionList"/>
    <dgm:cxn modelId="{5771273D-133D-435D-9A2C-F47291EB0379}" srcId="{3F40D31A-EC4A-43D9-AC5A-79EBCA875567}" destId="{761F2D06-EDF5-418E-A9CD-4DC99B5F7DB9}" srcOrd="0" destOrd="0" parTransId="{A2925291-1BFB-41F6-99B7-1CA1F2A6637F}" sibTransId="{1FAB7F64-1391-4B85-951E-E1F5FE63C5A0}"/>
    <dgm:cxn modelId="{3550AE4C-B6E5-4FB2-B89C-F06AE4DF4A58}" srcId="{6761B8A1-AB81-4CDE-BDCE-45B79858598E}" destId="{383928A8-7439-41E5-AD58-D191D7730319}" srcOrd="0" destOrd="0" parTransId="{8C98FE0E-4039-428A-897C-98EE610C5F8B}" sibTransId="{9E3BD388-760C-414B-ABD3-871E642F69AC}"/>
    <dgm:cxn modelId="{84A27C5A-574F-4A77-975D-6B4BE821DA0A}" srcId="{29DB998C-4285-4AA7-AF43-569A838756E5}" destId="{278C67B5-0969-4B10-A7DE-90F604E33BE1}" srcOrd="0" destOrd="0" parTransId="{758C85B0-5E8E-4471-9062-E4B264737BF1}" sibTransId="{64D89BAA-DEE0-4D5F-892F-8D07069E16B8}"/>
    <dgm:cxn modelId="{B141E772-208B-4BB9-8721-4AB4EADCA6BC}" srcId="{383928A8-7439-41E5-AD58-D191D7730319}" destId="{F2771490-FB0B-444E-A95F-9F1A7B537B5D}" srcOrd="0" destOrd="0" parTransId="{FBE43F61-CDAE-44CD-825A-3861F93AA36A}" sibTransId="{BA24D171-677C-4119-9BD6-5CD400CFCA48}"/>
    <dgm:cxn modelId="{BAC4B684-10CF-A746-82F1-17DB12915F91}" type="presOf" srcId="{3F40D31A-EC4A-43D9-AC5A-79EBCA875567}" destId="{76B00FBC-4963-424A-8C7F-7AC5D72493F8}" srcOrd="0" destOrd="0" presId="urn:microsoft.com/office/officeart/2016/7/layout/VerticalSolidActionList"/>
    <dgm:cxn modelId="{8F4DF796-7FD6-3645-AAF7-437AB6618668}" type="presOf" srcId="{383928A8-7439-41E5-AD58-D191D7730319}" destId="{FA7AFD5B-4CC6-0945-B113-F9D3CD562463}" srcOrd="0" destOrd="0" presId="urn:microsoft.com/office/officeart/2016/7/layout/VerticalSolidActionList"/>
    <dgm:cxn modelId="{E4879FAD-FDB4-41E8-BDF9-F54E5684D6CB}" srcId="{6761B8A1-AB81-4CDE-BDCE-45B79858598E}" destId="{29DB998C-4285-4AA7-AF43-569A838756E5}" srcOrd="2" destOrd="0" parTransId="{1D68B59F-4281-4B7C-9252-02694B901F62}" sibTransId="{BE30A2CC-AD1A-402A-A9C7-C489C16C2094}"/>
    <dgm:cxn modelId="{7246ABB3-32CF-F64A-A034-D6774178FD11}" type="presOf" srcId="{C949B1D1-7731-48ED-B4F6-35D0BF1E69FE}" destId="{B989F060-BA21-3946-8E1A-4596D7BFF144}" srcOrd="0" destOrd="0" presId="urn:microsoft.com/office/officeart/2016/7/layout/VerticalSolidActionList"/>
    <dgm:cxn modelId="{693070CC-2B03-4989-A2C9-8024F85214D7}" srcId="{6761B8A1-AB81-4CDE-BDCE-45B79858598E}" destId="{C949B1D1-7731-48ED-B4F6-35D0BF1E69FE}" srcOrd="1" destOrd="0" parTransId="{9F61C0A0-A14A-4E9D-B927-2B6ADB9894D9}" sibTransId="{71FB61A3-E0A4-4FB4-B0FE-41923DDB888B}"/>
    <dgm:cxn modelId="{0B7BCBD7-D102-C543-9339-CB57F49D2515}" type="presOf" srcId="{761F2D06-EDF5-418E-A9CD-4DC99B5F7DB9}" destId="{3D2FB5B0-2B34-884E-A5AE-5F7101F3AC34}" srcOrd="0" destOrd="0" presId="urn:microsoft.com/office/officeart/2016/7/layout/VerticalSolidActionList"/>
    <dgm:cxn modelId="{22B9CBE4-ACC5-0644-A3B4-AD889F576A5D}" type="presOf" srcId="{F2771490-FB0B-444E-A95F-9F1A7B537B5D}" destId="{98994320-B393-534C-807D-44099B8A805A}" srcOrd="0" destOrd="0" presId="urn:microsoft.com/office/officeart/2016/7/layout/VerticalSolidActionList"/>
    <dgm:cxn modelId="{0DACACE6-293E-C343-BC5B-3D65BF7635AC}" type="presOf" srcId="{6761B8A1-AB81-4CDE-BDCE-45B79858598E}" destId="{3F217CB1-BBC0-2F41-99E0-4BCF0471CD44}" srcOrd="0" destOrd="0" presId="urn:microsoft.com/office/officeart/2016/7/layout/VerticalSolidActionList"/>
    <dgm:cxn modelId="{B5B30BE9-9009-402C-B227-5D4B70485644}" srcId="{6761B8A1-AB81-4CDE-BDCE-45B79858598E}" destId="{3F40D31A-EC4A-43D9-AC5A-79EBCA875567}" srcOrd="3" destOrd="0" parTransId="{FF163EAF-A6F3-422A-85B8-8D003987B16C}" sibTransId="{758838EF-652A-438E-8DFA-55B4E0DF8064}"/>
    <dgm:cxn modelId="{A6DC8CF4-E48F-B640-9E66-4E5C6B7B995D}" type="presOf" srcId="{A242E5ED-A75A-4EA6-B2C5-5D92111EAFE8}" destId="{D83D0D23-9FCF-BA4A-A832-FDC6E5F0B3A2}" srcOrd="0" destOrd="0" presId="urn:microsoft.com/office/officeart/2016/7/layout/VerticalSolidActionList"/>
    <dgm:cxn modelId="{1074E8F9-9AEF-844F-AABD-69B3505F453C}" type="presOf" srcId="{278C67B5-0969-4B10-A7DE-90F604E33BE1}" destId="{857CA3B2-DD52-9B41-918F-F6904271069E}" srcOrd="0" destOrd="0" presId="urn:microsoft.com/office/officeart/2016/7/layout/VerticalSolidActionList"/>
    <dgm:cxn modelId="{3705DD69-6C72-EE4D-9219-3F5948CFFDE7}" type="presParOf" srcId="{3F217CB1-BBC0-2F41-99E0-4BCF0471CD44}" destId="{5204055A-1B03-8444-9AA1-E693DB83466F}" srcOrd="0" destOrd="0" presId="urn:microsoft.com/office/officeart/2016/7/layout/VerticalSolidActionList"/>
    <dgm:cxn modelId="{B8A79F59-41AA-CD46-A17C-F24F9BEB7E90}" type="presParOf" srcId="{5204055A-1B03-8444-9AA1-E693DB83466F}" destId="{FA7AFD5B-4CC6-0945-B113-F9D3CD562463}" srcOrd="0" destOrd="0" presId="urn:microsoft.com/office/officeart/2016/7/layout/VerticalSolidActionList"/>
    <dgm:cxn modelId="{07BAF6DE-B97E-734A-B44B-F2B4E318A151}" type="presParOf" srcId="{5204055A-1B03-8444-9AA1-E693DB83466F}" destId="{98994320-B393-534C-807D-44099B8A805A}" srcOrd="1" destOrd="0" presId="urn:microsoft.com/office/officeart/2016/7/layout/VerticalSolidActionList"/>
    <dgm:cxn modelId="{3BECD984-5115-8B48-B9AC-B5FE84915E70}" type="presParOf" srcId="{3F217CB1-BBC0-2F41-99E0-4BCF0471CD44}" destId="{E73C52B5-17FB-7A44-B5B9-999FDBF7F06E}" srcOrd="1" destOrd="0" presId="urn:microsoft.com/office/officeart/2016/7/layout/VerticalSolidActionList"/>
    <dgm:cxn modelId="{B70FBA81-5202-FA47-A612-98FF885493E0}" type="presParOf" srcId="{3F217CB1-BBC0-2F41-99E0-4BCF0471CD44}" destId="{31EB93A7-D065-3243-8CF1-FA52909D5647}" srcOrd="2" destOrd="0" presId="urn:microsoft.com/office/officeart/2016/7/layout/VerticalSolidActionList"/>
    <dgm:cxn modelId="{55CE28CB-1EEF-4E4A-9054-7713064BDC14}" type="presParOf" srcId="{31EB93A7-D065-3243-8CF1-FA52909D5647}" destId="{B989F060-BA21-3946-8E1A-4596D7BFF144}" srcOrd="0" destOrd="0" presId="urn:microsoft.com/office/officeart/2016/7/layout/VerticalSolidActionList"/>
    <dgm:cxn modelId="{77F56869-D6D2-454A-ABF3-02E57DFE28AA}" type="presParOf" srcId="{31EB93A7-D065-3243-8CF1-FA52909D5647}" destId="{D83D0D23-9FCF-BA4A-A832-FDC6E5F0B3A2}" srcOrd="1" destOrd="0" presId="urn:microsoft.com/office/officeart/2016/7/layout/VerticalSolidActionList"/>
    <dgm:cxn modelId="{96485ABC-6188-D84D-A137-0AF2848C3C6D}" type="presParOf" srcId="{3F217CB1-BBC0-2F41-99E0-4BCF0471CD44}" destId="{04FEF636-C1B8-EA4F-88A5-5E681A537C0D}" srcOrd="3" destOrd="0" presId="urn:microsoft.com/office/officeart/2016/7/layout/VerticalSolidActionList"/>
    <dgm:cxn modelId="{F62BAA8D-8F8A-4541-98B3-4A23B6656816}" type="presParOf" srcId="{3F217CB1-BBC0-2F41-99E0-4BCF0471CD44}" destId="{A7CED5BA-1E28-5D4D-9FB1-10A502F663A1}" srcOrd="4" destOrd="0" presId="urn:microsoft.com/office/officeart/2016/7/layout/VerticalSolidActionList"/>
    <dgm:cxn modelId="{437B0D13-A23F-A943-989B-0AF3CAD77B3C}" type="presParOf" srcId="{A7CED5BA-1E28-5D4D-9FB1-10A502F663A1}" destId="{CFE53ACE-989B-D14F-B0AB-AF60EBAF6F12}" srcOrd="0" destOrd="0" presId="urn:microsoft.com/office/officeart/2016/7/layout/VerticalSolidActionList"/>
    <dgm:cxn modelId="{A8E45BD1-92B1-3D4B-8C86-2BB0E7FECBFC}" type="presParOf" srcId="{A7CED5BA-1E28-5D4D-9FB1-10A502F663A1}" destId="{857CA3B2-DD52-9B41-918F-F6904271069E}" srcOrd="1" destOrd="0" presId="urn:microsoft.com/office/officeart/2016/7/layout/VerticalSolidActionList"/>
    <dgm:cxn modelId="{2F333D20-3452-3747-A9A0-D3F4BC0E0614}" type="presParOf" srcId="{3F217CB1-BBC0-2F41-99E0-4BCF0471CD44}" destId="{52F4D399-ABD5-4F42-851D-E92A3213F60A}" srcOrd="5" destOrd="0" presId="urn:microsoft.com/office/officeart/2016/7/layout/VerticalSolidActionList"/>
    <dgm:cxn modelId="{6E6A9C14-9E33-D34B-AF80-5AE34EC02A2F}" type="presParOf" srcId="{3F217CB1-BBC0-2F41-99E0-4BCF0471CD44}" destId="{5FDE8DD0-D301-BC47-93AB-1C334D8084AF}" srcOrd="6" destOrd="0" presId="urn:microsoft.com/office/officeart/2016/7/layout/VerticalSolidActionList"/>
    <dgm:cxn modelId="{6763BE98-8312-9C4D-A8E9-1FB0A1ABB748}" type="presParOf" srcId="{5FDE8DD0-D301-BC47-93AB-1C334D8084AF}" destId="{76B00FBC-4963-424A-8C7F-7AC5D72493F8}" srcOrd="0" destOrd="0" presId="urn:microsoft.com/office/officeart/2016/7/layout/VerticalSolidActionList"/>
    <dgm:cxn modelId="{FB7A3042-BCD2-CF42-967A-1908696352AD}" type="presParOf" srcId="{5FDE8DD0-D301-BC47-93AB-1C334D8084AF}" destId="{3D2FB5B0-2B34-884E-A5AE-5F7101F3AC34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94320-B393-534C-807D-44099B8A805A}">
      <dsp:nvSpPr>
        <dsp:cNvPr id="0" name=""/>
        <dsp:cNvSpPr/>
      </dsp:nvSpPr>
      <dsp:spPr>
        <a:xfrm>
          <a:off x="1338562" y="2225"/>
          <a:ext cx="5354251" cy="11528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87" tIns="292813" rIns="103887" bIns="2928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Average Rating by Year</a:t>
          </a:r>
        </a:p>
      </dsp:txBody>
      <dsp:txXfrm>
        <a:off x="1338562" y="2225"/>
        <a:ext cx="5354251" cy="1152808"/>
      </dsp:txXfrm>
    </dsp:sp>
    <dsp:sp modelId="{FA7AFD5B-4CC6-0945-B113-F9D3CD562463}">
      <dsp:nvSpPr>
        <dsp:cNvPr id="0" name=""/>
        <dsp:cNvSpPr/>
      </dsp:nvSpPr>
      <dsp:spPr>
        <a:xfrm>
          <a:off x="0" y="2225"/>
          <a:ext cx="1338562" cy="115280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832" tIns="113872" rIns="70832" bIns="11387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Average</a:t>
          </a:r>
        </a:p>
      </dsp:txBody>
      <dsp:txXfrm>
        <a:off x="0" y="2225"/>
        <a:ext cx="1338562" cy="1152808"/>
      </dsp:txXfrm>
    </dsp:sp>
    <dsp:sp modelId="{D83D0D23-9FCF-BA4A-A832-FDC6E5F0B3A2}">
      <dsp:nvSpPr>
        <dsp:cNvPr id="0" name=""/>
        <dsp:cNvSpPr/>
      </dsp:nvSpPr>
      <dsp:spPr>
        <a:xfrm>
          <a:off x="1338562" y="1224202"/>
          <a:ext cx="5354251" cy="115280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87" tIns="292813" rIns="103887" bIns="2928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Average rating By Category</a:t>
          </a:r>
        </a:p>
      </dsp:txBody>
      <dsp:txXfrm>
        <a:off x="1338562" y="1224202"/>
        <a:ext cx="5354251" cy="1152808"/>
      </dsp:txXfrm>
    </dsp:sp>
    <dsp:sp modelId="{B989F060-BA21-3946-8E1A-4596D7BFF144}">
      <dsp:nvSpPr>
        <dsp:cNvPr id="0" name=""/>
        <dsp:cNvSpPr/>
      </dsp:nvSpPr>
      <dsp:spPr>
        <a:xfrm>
          <a:off x="0" y="1224202"/>
          <a:ext cx="1338562" cy="115280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832" tIns="113872" rIns="70832" bIns="11387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Average</a:t>
          </a:r>
        </a:p>
      </dsp:txBody>
      <dsp:txXfrm>
        <a:off x="0" y="1224202"/>
        <a:ext cx="1338562" cy="1152808"/>
      </dsp:txXfrm>
    </dsp:sp>
    <dsp:sp modelId="{857CA3B2-DD52-9B41-918F-F6904271069E}">
      <dsp:nvSpPr>
        <dsp:cNvPr id="0" name=""/>
        <dsp:cNvSpPr/>
      </dsp:nvSpPr>
      <dsp:spPr>
        <a:xfrm>
          <a:off x="1338562" y="2446179"/>
          <a:ext cx="5354251" cy="115280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87" tIns="292813" rIns="103887" bIns="2928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Total Rating By Customer</a:t>
          </a:r>
        </a:p>
      </dsp:txBody>
      <dsp:txXfrm>
        <a:off x="1338562" y="2446179"/>
        <a:ext cx="5354251" cy="1152808"/>
      </dsp:txXfrm>
    </dsp:sp>
    <dsp:sp modelId="{CFE53ACE-989B-D14F-B0AB-AF60EBAF6F12}">
      <dsp:nvSpPr>
        <dsp:cNvPr id="0" name=""/>
        <dsp:cNvSpPr/>
      </dsp:nvSpPr>
      <dsp:spPr>
        <a:xfrm>
          <a:off x="0" y="2446179"/>
          <a:ext cx="1338562" cy="1152808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832" tIns="113872" rIns="70832" bIns="11387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Total</a:t>
          </a:r>
        </a:p>
      </dsp:txBody>
      <dsp:txXfrm>
        <a:off x="0" y="2446179"/>
        <a:ext cx="1338562" cy="1152808"/>
      </dsp:txXfrm>
    </dsp:sp>
    <dsp:sp modelId="{3D2FB5B0-2B34-884E-A5AE-5F7101F3AC34}">
      <dsp:nvSpPr>
        <dsp:cNvPr id="0" name=""/>
        <dsp:cNvSpPr/>
      </dsp:nvSpPr>
      <dsp:spPr>
        <a:xfrm>
          <a:off x="1338562" y="3668156"/>
          <a:ext cx="5354251" cy="115280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887" tIns="292813" rIns="103887" bIns="29281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Total Ratings by item_type</a:t>
          </a:r>
        </a:p>
      </dsp:txBody>
      <dsp:txXfrm>
        <a:off x="1338562" y="3668156"/>
        <a:ext cx="5354251" cy="1152808"/>
      </dsp:txXfrm>
    </dsp:sp>
    <dsp:sp modelId="{76B00FBC-4963-424A-8C7F-7AC5D72493F8}">
      <dsp:nvSpPr>
        <dsp:cNvPr id="0" name=""/>
        <dsp:cNvSpPr/>
      </dsp:nvSpPr>
      <dsp:spPr>
        <a:xfrm>
          <a:off x="0" y="3668156"/>
          <a:ext cx="1338562" cy="115280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832" tIns="113872" rIns="70832" bIns="11387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Total</a:t>
          </a:r>
        </a:p>
      </dsp:txBody>
      <dsp:txXfrm>
        <a:off x="0" y="3668156"/>
        <a:ext cx="1338562" cy="1152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8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1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70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9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93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0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0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1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74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8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2697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81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7560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0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51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2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F1B4C-45C2-43CB-9981-908B7E63E6A5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5403449-78C8-4BD4-98DD-ADC7435C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9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6ACF-A3C7-A005-B6FC-7AB778128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2444" y="1321582"/>
            <a:ext cx="7766936" cy="125077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Group 2 Project IST 722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DB474-DACE-2EEE-6F44-85CE5D6D1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8806" y="4963094"/>
            <a:ext cx="2023594" cy="141748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Members: </a:t>
            </a:r>
          </a:p>
          <a:p>
            <a:pPr algn="l"/>
            <a:r>
              <a:rPr lang="en-US" sz="1200" dirty="0"/>
              <a:t>Nithin Kumar Hadhge Girish Kumar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58D9D-8E53-4455-94D1-D486D20B8E81}"/>
              </a:ext>
            </a:extLst>
          </p:cNvPr>
          <p:cNvSpPr txBox="1"/>
          <p:nvPr/>
        </p:nvSpPr>
        <p:spPr>
          <a:xfrm>
            <a:off x="1263789" y="3106007"/>
            <a:ext cx="7766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Customer Feedback for FudgeMart and FudgeFlix</a:t>
            </a:r>
          </a:p>
        </p:txBody>
      </p:sp>
    </p:spTree>
    <p:extLst>
      <p:ext uri="{BB962C8B-B14F-4D97-AF65-F5344CB8AC3E}">
        <p14:creationId xmlns:p14="http://schemas.microsoft.com/office/powerpoint/2010/main" val="197400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B11E-0FC4-AB6C-F15C-3FDA3B577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155" y="878796"/>
            <a:ext cx="8834966" cy="517094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Goal:  Focus on a particular Business</a:t>
            </a:r>
          </a:p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Process to be integrated with</a:t>
            </a:r>
          </a:p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		FudgeMart and FudgeFlix</a:t>
            </a:r>
          </a:p>
          <a:p>
            <a:pPr marL="0" indent="0">
              <a:buNone/>
            </a:pPr>
            <a:endParaRPr lang="en-US" sz="9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Resolution:  Determining the Business Process of Customers</a:t>
            </a:r>
          </a:p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			    providing ratings for various titles and products</a:t>
            </a:r>
          </a:p>
          <a:p>
            <a:pPr marL="0" indent="0">
              <a:buNone/>
            </a:pPr>
            <a:endParaRPr lang="en-US" sz="9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sz="9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Process: Merged common attributes in FudgeMart and</a:t>
            </a:r>
          </a:p>
          <a:p>
            <a:pPr marL="0" indent="0">
              <a:buNone/>
            </a:pPr>
            <a:r>
              <a:rPr lang="en-US" sz="9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FudgeFlix into one dimension/fact</a:t>
            </a:r>
          </a:p>
          <a:p>
            <a:pPr marL="0" indent="0">
              <a:buNone/>
            </a:pPr>
            <a:endParaRPr lang="en-US" sz="6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3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83B1B4-7B51-D1E3-7D3F-39E9FC34A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875" y="2943966"/>
            <a:ext cx="7772400" cy="3559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0C7C5-913A-B460-DD77-D65BB8C6EED2}"/>
              </a:ext>
            </a:extLst>
          </p:cNvPr>
          <p:cNvSpPr txBox="1"/>
          <p:nvPr/>
        </p:nvSpPr>
        <p:spPr>
          <a:xfrm>
            <a:off x="289014" y="292554"/>
            <a:ext cx="6688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Star Schema – Merged Data Assumptions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2A220D-2A92-C5A3-98E0-4A83F6AD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828" y="2187045"/>
            <a:ext cx="2514902" cy="523220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bg2">
                    <a:lumMod val="50000"/>
                  </a:schemeClr>
                </a:solidFill>
              </a:rPr>
              <a:t>Linage graph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724E83-12D0-D9DD-CD86-223C0F09B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3" y="899606"/>
            <a:ext cx="5746906" cy="35590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6DADCE-97F6-5E5A-7C08-273F8861745B}"/>
              </a:ext>
            </a:extLst>
          </p:cNvPr>
          <p:cNvSpPr txBox="1"/>
          <p:nvPr/>
        </p:nvSpPr>
        <p:spPr>
          <a:xfrm>
            <a:off x="6463862" y="1030014"/>
            <a:ext cx="4025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Assumptions:-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Queue Date is Assumed as Review Date in FudgeFlix </a:t>
            </a:r>
          </a:p>
        </p:txBody>
      </p:sp>
    </p:spTree>
    <p:extLst>
      <p:ext uri="{BB962C8B-B14F-4D97-AF65-F5344CB8AC3E}">
        <p14:creationId xmlns:p14="http://schemas.microsoft.com/office/powerpoint/2010/main" val="391696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5AA080D-D78B-63BA-7C78-D15A34E615E9}"/>
              </a:ext>
            </a:extLst>
          </p:cNvPr>
          <p:cNvSpPr txBox="1"/>
          <p:nvPr/>
        </p:nvSpPr>
        <p:spPr>
          <a:xfrm>
            <a:off x="160308" y="227546"/>
            <a:ext cx="4280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Table and Row Summary </a:t>
            </a:r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50D779-3822-2AB0-0DFD-0B359F5CB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08" y="1898268"/>
            <a:ext cx="3848298" cy="3975304"/>
          </a:xfrm>
          <a:prstGeom prst="rect">
            <a:avLst/>
          </a:prstGeom>
        </p:spPr>
      </p:pic>
      <p:pic>
        <p:nvPicPr>
          <p:cNvPr id="18" name="Picture 17" descr="A screenshot of a phone&#10;&#10;AI-generated content may be incorrect.">
            <a:extLst>
              <a:ext uri="{FF2B5EF4-FFF2-40B4-BE49-F238E27FC236}">
                <a16:creationId xmlns:a16="http://schemas.microsoft.com/office/drawing/2014/main" id="{D3336DA6-D399-5EFC-FDAC-DCDF31C3A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303" y="1949070"/>
            <a:ext cx="3708591" cy="3924502"/>
          </a:xfrm>
          <a:prstGeom prst="rect">
            <a:avLst/>
          </a:prstGeom>
        </p:spPr>
      </p:pic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A96C2943-A0AC-8848-F050-0D8C3113B5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591" y="1987172"/>
            <a:ext cx="3657788" cy="37974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314703E-83DE-3B10-2D7F-CC17F94E870B}"/>
              </a:ext>
            </a:extLst>
          </p:cNvPr>
          <p:cNvSpPr txBox="1"/>
          <p:nvPr/>
        </p:nvSpPr>
        <p:spPr>
          <a:xfrm>
            <a:off x="160308" y="1383951"/>
            <a:ext cx="351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DIM_CUSTOMER    FM=25, FF=35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56E73C-19F5-4C0B-0097-B75F0E428331}"/>
              </a:ext>
            </a:extLst>
          </p:cNvPr>
          <p:cNvSpPr txBox="1"/>
          <p:nvPr/>
        </p:nvSpPr>
        <p:spPr>
          <a:xfrm>
            <a:off x="8316592" y="1383951"/>
            <a:ext cx="3202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DIM_ITEM   FM=53, FF= 7185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497BC7-52F7-315F-D3E8-F68EC66F653F}"/>
              </a:ext>
            </a:extLst>
          </p:cNvPr>
          <p:cNvSpPr txBox="1"/>
          <p:nvPr/>
        </p:nvSpPr>
        <p:spPr>
          <a:xfrm>
            <a:off x="4440648" y="1383951"/>
            <a:ext cx="1758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DIM_DATE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798FE-B566-007A-308D-62DCC8E97C72}"/>
              </a:ext>
            </a:extLst>
          </p:cNvPr>
          <p:cNvSpPr txBox="1"/>
          <p:nvPr/>
        </p:nvSpPr>
        <p:spPr>
          <a:xfrm>
            <a:off x="5678820" y="1383951"/>
            <a:ext cx="187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1970-2019</a:t>
            </a:r>
          </a:p>
        </p:txBody>
      </p:sp>
    </p:spTree>
    <p:extLst>
      <p:ext uri="{BB962C8B-B14F-4D97-AF65-F5344CB8AC3E}">
        <p14:creationId xmlns:p14="http://schemas.microsoft.com/office/powerpoint/2010/main" val="1981016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DF12-DE4C-E9EB-4DCA-A9C05B169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56" y="397229"/>
            <a:ext cx="3747709" cy="66402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Table and Row Summary </a:t>
            </a:r>
            <a:br>
              <a:rPr lang="en-US" sz="2800" dirty="0">
                <a:solidFill>
                  <a:schemeClr val="bg2">
                    <a:lumMod val="50000"/>
                  </a:schemeClr>
                </a:solidFill>
              </a:rPr>
            </a:b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F3E0D4C7-EA3C-BF5A-7F46-D7D890DC4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535" y="1910341"/>
            <a:ext cx="3657788" cy="3886400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0DD34F58-3BD9-DA9C-6505-90BD163FD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063" y="1935743"/>
            <a:ext cx="3683189" cy="383559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1CE8B91-563A-FC48-97F3-1FF2998DE9A5}"/>
              </a:ext>
            </a:extLst>
          </p:cNvPr>
          <p:cNvSpPr txBox="1">
            <a:spLocks/>
          </p:cNvSpPr>
          <p:nvPr/>
        </p:nvSpPr>
        <p:spPr>
          <a:xfrm>
            <a:off x="1134535" y="1044890"/>
            <a:ext cx="3048000" cy="6612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FACT_CUSTOMER_RATINGS</a:t>
            </a:r>
            <a:endParaRPr lang="en-US" sz="180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FM=1039, FF=2368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D1AB946-025F-6520-0456-74E97F3294FC}"/>
              </a:ext>
            </a:extLst>
          </p:cNvPr>
          <p:cNvSpPr txBox="1">
            <a:spLocks/>
          </p:cNvSpPr>
          <p:nvPr/>
        </p:nvSpPr>
        <p:spPr>
          <a:xfrm>
            <a:off x="6096000" y="1086660"/>
            <a:ext cx="3423557" cy="6194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OBT_FACT_CUSTOMER_RATINGS</a:t>
            </a:r>
          </a:p>
          <a:p>
            <a:pPr algn="ctr"/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FM=1039, FF=2368</a:t>
            </a:r>
          </a:p>
        </p:txBody>
      </p:sp>
    </p:spTree>
    <p:extLst>
      <p:ext uri="{BB962C8B-B14F-4D97-AF65-F5344CB8AC3E}">
        <p14:creationId xmlns:p14="http://schemas.microsoft.com/office/powerpoint/2010/main" val="317359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6" name="Title 15">
            <a:extLst>
              <a:ext uri="{FF2B5EF4-FFF2-40B4-BE49-F238E27FC236}">
                <a16:creationId xmlns:a16="http://schemas.microsoft.com/office/drawing/2014/main" id="{1FBFF18F-F062-EA16-C9EE-DF01B186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chemeClr val="bg2">
                    <a:lumMod val="50000"/>
                  </a:schemeClr>
                </a:solidFill>
              </a:rPr>
              <a:t>Analysis of measure of Merged Level and 2 other levels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extBox 1">
            <a:extLst>
              <a:ext uri="{FF2B5EF4-FFF2-40B4-BE49-F238E27FC236}">
                <a16:creationId xmlns:a16="http://schemas.microsoft.com/office/drawing/2014/main" id="{48F208C5-2FF7-B844-A7B2-D1B48FE4CC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319468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424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9B455B-19CE-8D25-2970-C167B31BE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089" y="5270825"/>
            <a:ext cx="1365739" cy="80483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DBT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CD3D79-D31D-6BA7-C82D-624B88B98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48" y="668215"/>
            <a:ext cx="9323977" cy="461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58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E69F82-ED8D-713C-6474-EF1631B6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334" y="5383913"/>
            <a:ext cx="6464927" cy="93650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chemeClr val="bg2">
                    <a:lumMod val="50000"/>
                  </a:schemeClr>
                </a:solidFill>
              </a:rPr>
              <a:t>DBT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1BBE84-3B40-9850-8774-281618761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36" y="633997"/>
            <a:ext cx="9258163" cy="479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30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Isosceles Triangle 27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Isosceles Triangle 31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A1E297B-FDD4-6538-79B3-FB03659F427A}"/>
              </a:ext>
            </a:extLst>
          </p:cNvPr>
          <p:cNvSpPr txBox="1"/>
          <p:nvPr/>
        </p:nvSpPr>
        <p:spPr>
          <a:xfrm>
            <a:off x="985969" y="4553712"/>
            <a:ext cx="8288032" cy="10963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Solution Dimensional – HL design </a:t>
            </a:r>
          </a:p>
        </p:txBody>
      </p:sp>
      <p:pic>
        <p:nvPicPr>
          <p:cNvPr id="16" name="Picture 1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A815A5DF-5FD5-1EAD-8670-9A3EBE117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53" y="1207973"/>
            <a:ext cx="11560093" cy="334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35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91186-5DE5-7B8A-BD8D-A44A2773C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17199"/>
            <a:ext cx="8989181" cy="427636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Detailed Design-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dim_customer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dim_item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fact_customer_ratings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94B6F6-5401-81A7-5E0A-1509985A7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7" y="663197"/>
            <a:ext cx="8789746" cy="1849209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C2617D-C106-CC2E-3F8F-F2F85F102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33" y="2630767"/>
            <a:ext cx="8780069" cy="204774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1080BC-F6C6-F7B3-DDB5-942C8BDE6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33" y="4796874"/>
            <a:ext cx="8780068" cy="181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00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44B445-8EC6-A9EE-52E1-98054B251BD5}"/>
              </a:ext>
            </a:extLst>
          </p:cNvPr>
          <p:cNvSpPr txBox="1">
            <a:spLocks/>
          </p:cNvSpPr>
          <p:nvPr/>
        </p:nvSpPr>
        <p:spPr>
          <a:xfrm>
            <a:off x="149679" y="201760"/>
            <a:ext cx="8863691" cy="5417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Power Bi - Customer Feedback Analysis FudgeFlix 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C7A83A-3B5F-DE7D-7C55-C8A68A96D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48" y="722483"/>
            <a:ext cx="10617746" cy="5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93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0B8B8E-DE00-B38E-711D-C3D4E963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28" y="206145"/>
            <a:ext cx="7846181" cy="492579"/>
          </a:xfrm>
        </p:spPr>
        <p:txBody>
          <a:bodyPr>
            <a:normAutofit/>
          </a:bodyPr>
          <a:lstStyle/>
          <a:p>
            <a:r>
              <a:rPr lang="en-US" sz="2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Power Bi - Customer Feedback Analysis FudgeMart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3822CB-BB88-DBA0-52A0-F46E0DC95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48" y="722841"/>
            <a:ext cx="10617746" cy="591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57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F4D7F6-81B5-452A-9CE6-76D81F91D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44B7B-9ED5-2CFF-253A-062696F6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3" y="609600"/>
            <a:ext cx="4103912" cy="6558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600514D-20FB-4559-97DC-D1DC39E6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266F638A-E405-4AC0-B984-72E5813B0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1CBE93-B17D-4509-843C-82287C380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6277B4-6A43-48AB-89B2-34422216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7">
            <a:extLst>
              <a:ext uri="{FF2B5EF4-FFF2-40B4-BE49-F238E27FC236}">
                <a16:creationId xmlns:a16="http://schemas.microsoft.com/office/drawing/2014/main" id="{27B538D5-95DB-47ED-9CB4-34AE5BF78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7DF977-7862-B394-3CF0-FB0B7BFFDCD1}"/>
              </a:ext>
            </a:extLst>
          </p:cNvPr>
          <p:cNvSpPr txBox="1">
            <a:spLocks/>
          </p:cNvSpPr>
          <p:nvPr/>
        </p:nvSpPr>
        <p:spPr>
          <a:xfrm>
            <a:off x="1333503" y="3535144"/>
            <a:ext cx="2904923" cy="65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Challenges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56955-DB4C-D721-000F-B4E3A2045802}"/>
              </a:ext>
            </a:extLst>
          </p:cNvPr>
          <p:cNvSpPr txBox="1"/>
          <p:nvPr/>
        </p:nvSpPr>
        <p:spPr>
          <a:xfrm>
            <a:off x="1707994" y="4368113"/>
            <a:ext cx="7853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Data creation at first went smoothly, however there was a missing 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attribute in each table as to where the data originated from; FudgeMart or FudgeFlix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AAB1B9-FFAA-965E-047D-41AE715CA0A1}"/>
              </a:ext>
            </a:extLst>
          </p:cNvPr>
          <p:cNvSpPr txBox="1">
            <a:spLocks/>
          </p:cNvSpPr>
          <p:nvPr/>
        </p:nvSpPr>
        <p:spPr>
          <a:xfrm>
            <a:off x="1707994" y="1335254"/>
            <a:ext cx="7853516" cy="19876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B0F0"/>
                </a:solidFill>
              </a:rPr>
              <a:t>Add a type_genre attribute to the Item dimension table to better classify content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B0F0"/>
                </a:solidFill>
              </a:rPr>
              <a:t>Add a constraint on review ratings in the FudgeFlix dataset to ensure a minimum value of 1, preventing null or invalid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B0F0"/>
                </a:solidFill>
              </a:rPr>
              <a:t>Enhance the customer location details in FudgeFlix by including fields for city, country, and region instead of relying solely on a postal code.</a:t>
            </a:r>
          </a:p>
        </p:txBody>
      </p:sp>
    </p:spTree>
    <p:extLst>
      <p:ext uri="{BB962C8B-B14F-4D97-AF65-F5344CB8AC3E}">
        <p14:creationId xmlns:p14="http://schemas.microsoft.com/office/powerpoint/2010/main" val="377159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39E5-8347-7007-60EF-4BF7A440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113001" cy="1020097"/>
          </a:xfrm>
        </p:spPr>
        <p:txBody>
          <a:bodyPr/>
          <a:lstStyle/>
          <a:p>
            <a:r>
              <a:rPr lang="en-US" dirty="0"/>
              <a:t>Questions?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9D3AD5-D005-6901-BA43-21AFA7BF5BB0}"/>
              </a:ext>
            </a:extLst>
          </p:cNvPr>
          <p:cNvSpPr txBox="1">
            <a:spLocks/>
          </p:cNvSpPr>
          <p:nvPr/>
        </p:nvSpPr>
        <p:spPr>
          <a:xfrm>
            <a:off x="677334" y="3564196"/>
            <a:ext cx="4354325" cy="12216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>
                <a:solidFill>
                  <a:schemeClr val="accent2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31326823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1417</TotalTime>
  <Words>323</Words>
  <Application>Microsoft Macintosh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Group 2 Project IST 722</vt:lpstr>
      <vt:lpstr>PowerPoint Presentation</vt:lpstr>
      <vt:lpstr>Linage graph</vt:lpstr>
      <vt:lpstr>PowerPoint Presentation</vt:lpstr>
      <vt:lpstr>Table and Row Summary  </vt:lpstr>
      <vt:lpstr>Analysis of measure of Merged Level and 2 other levels</vt:lpstr>
      <vt:lpstr>DBT</vt:lpstr>
      <vt:lpstr>DBT</vt:lpstr>
      <vt:lpstr>PowerPoint Presentation</vt:lpstr>
      <vt:lpstr>Detailed Design- dim_customer, dim_item, fact_customer_ratings</vt:lpstr>
      <vt:lpstr>PowerPoint Presentation</vt:lpstr>
      <vt:lpstr>Power Bi - Customer Feedback Analysis FudgeMart</vt:lpstr>
      <vt:lpstr>Recommendations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Taormina</dc:creator>
  <cp:lastModifiedBy>Nithin Kumar Hadhge Girish Kumar</cp:lastModifiedBy>
  <cp:revision>34</cp:revision>
  <dcterms:created xsi:type="dcterms:W3CDTF">2025-08-06T00:56:27Z</dcterms:created>
  <dcterms:modified xsi:type="dcterms:W3CDTF">2026-05-24T04:37:55Z</dcterms:modified>
</cp:coreProperties>
</file>